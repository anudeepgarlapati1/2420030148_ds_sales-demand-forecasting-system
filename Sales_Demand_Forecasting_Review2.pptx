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2" r:id="rId2"/>
    <p:sldId id="257" r:id="rId3"/>
    <p:sldId id="903" r:id="rId4"/>
    <p:sldId id="902" r:id="rId5"/>
    <p:sldId id="258" r:id="rId6"/>
    <p:sldId id="904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4" d="100"/>
          <a:sy n="94" d="100"/>
        </p:scale>
        <p:origin x="274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7863A-4956-4659-9192-3D74DA4F7578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Date&amp; Time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1979839"/>
              </p:ext>
            </p:extLst>
          </p:nvPr>
        </p:nvGraphicFramePr>
        <p:xfrm>
          <a:off x="8193271" y="4114799"/>
          <a:ext cx="3702050" cy="334402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334402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Jawwad</a:t>
                      </a:r>
                      <a:endParaRPr lang="en-IN" sz="16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2420030075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 err="1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Pushpak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2420030107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algn="l" defTabSz="914400" rtl="0" eaLnBrk="1" latinLnBrk="0" hangingPunct="1"/>
                      <a:r>
                        <a:rPr lang="en-IN" sz="16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Anudeep</a:t>
                      </a: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400" b="1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 2420030148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IN" sz="1400" b="1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8038280" y="476555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9900276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Assistant 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b="1" dirty="0"/>
              <a:t>Date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SOA Project Review-2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738187" y="810857"/>
            <a:ext cx="1071562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&amp; Demand Forecasting System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SCIENCE Project Review-2</a:t>
            </a: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BD4C9C-9DEB-26F4-AA75-F51C06DD64DC}"/>
              </a:ext>
            </a:extLst>
          </p:cNvPr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/>
              <a:t>Problem Statement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0" name="Content Placeholder 19"/>
          <p:cNvSpPr txBox="1"/>
          <p:nvPr/>
        </p:nvSpPr>
        <p:spPr>
          <a:xfrm>
            <a:off x="838200" y="1340069"/>
            <a:ext cx="10515600" cy="483213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en-US" sz="2000" b="1" dirty="0"/>
              <a:t>The Problem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1800" dirty="0"/>
              <a:t>Retailers largely rely on manual spreadsheets or single-model tools that ignore data quality issues, seasonality, and anomalies, producing unreliable demand predictions.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1800" dirty="0"/>
              <a:t>There is no unified, end-to-end system that cleans data, detects anomalies, forecasts demand with multiple models, and explains results to non-technical stakeholders.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000" b="1" dirty="0"/>
              <a:t>Real-World Relevance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1800" dirty="0"/>
              <a:t>Inaccurate demand forecasts directly cause overstocking (tied-up capital, waste) or stockouts (lost sales, poor customer experience) — a problem every retail and e-commerce business faces.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1800" dirty="0"/>
              <a:t>Reliable forecasting drives inventory planning, staffing, and promotional decisions across industries, making this a widely applicable, high-impact problem.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en-US" sz="2000" b="1" dirty="0"/>
              <a:t>Motivation for Selecting the Problem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1800" dirty="0"/>
              <a:t>Working with real Walmart retail sales data lets us validate forecasting techniques against genuine business patterns rather than synthetic data.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1800" dirty="0"/>
              <a:t>We wanted to build a complete, practical pipeline — from raw messy data to an interactive decision-support dashboard — rather than a narrow, model-only exercise.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F508849-A0DD-12D4-FD0D-5322CA138B2F}"/>
              </a:ext>
            </a:extLst>
          </p:cNvPr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Objectives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0" name="Content Placeholder 19"/>
          <p:cNvSpPr txBox="1"/>
          <p:nvPr/>
        </p:nvSpPr>
        <p:spPr>
          <a:xfrm>
            <a:off x="838200" y="2098220"/>
            <a:ext cx="10515600" cy="407397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1800" dirty="0"/>
              <a:t>Build an end-to-end sales &amp; demand forecasting system that ingests raw CSV/Excel sales data and produces accurate, actionable forecasts.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1800" dirty="0"/>
              <a:t>Design a data cleaning and quality-scoring pipeline that detects missing values, duplicate records (via RapidFuzz), and invalid entries, and reports a measurable data quality score.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1800" dirty="0"/>
              <a:t>Implement anomaly detection to flag unusual sales spikes or drops before they distort model training.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1800" dirty="0"/>
              <a:t>Develop and compare ARIMA and Prophet forecasting models on real retail data (Walmart Sales Dataset), evaluating each with MAE, RMSE, and MAPE.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1800" dirty="0"/>
              <a:t>Automatically select the better-performing model per series and surface the reasoning behind that choice.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1800" dirty="0"/>
              <a:t>Build an interactive Streamlit dashboard presenting sales trends, data quality scores, detected anomalies, forecast results, and business insights in a clear, non-technical way.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1800" dirty="0"/>
              <a:t>Expected outcome: a working prototype validated on held-out sales data, with forecast error (MAPE) low enough to support real inventory planning decisions.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44012633"/>
              </p:ext>
            </p:extLst>
          </p:nvPr>
        </p:nvGraphicFramePr>
        <p:xfrm>
          <a:off x="274646" y="689466"/>
          <a:ext cx="11642705" cy="471607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Authors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Title of the Paper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Methodology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Inferences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Limitation/Future work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itchFamily="18" charset="0"/>
                          <a:cs typeface="Times New Roman" pitchFamily="18" charset="0"/>
                        </a:rPr>
                        <a:t>Taylor &amp; Letham [1]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Forecasting at Scale (Prophet), The American Statistician, 2018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>
                        <a:buFont typeface="Arial" pitchFamily="34" charset="0"/>
                        <a:buChar char="•"/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Additive regression model combining trend, weekly/yearly seasonality, and holiday effects; designed for automatic fitting with minimal manual tuning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>
                        <a:buFont typeface="Arial" pitchFamily="34" charset="0"/>
                        <a:buChar char="•"/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Performs well on business time series with strong seasonality and holiday effects; robust to missing data and outliers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>
                        <a:buFont typeface="Arial" pitchFamily="34" charset="0"/>
                        <a:buChar char="•"/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Less effective on series with complex short-term autocorrelation; not as precise as ARIMA for tightly coupled dependencies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itchFamily="18" charset="0"/>
                          <a:cs typeface="Times New Roman" pitchFamily="18" charset="0"/>
                        </a:rPr>
                        <a:t>Box &amp; Jenkins [2]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Time Series Analysis: Forecasting and Control (ARIMA methodology), classic 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>
                        <a:buFont typeface="Arial" pitchFamily="34" charset="0"/>
                        <a:buChar char="•"/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Autoregressive Integrated Moving Average modeling using differencing, ACF/PACF analysis, and maximum likelihood estimation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>
                        <a:buFont typeface="Arial" pitchFamily="34" charset="0"/>
                        <a:buChar char="•"/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Strong performance on stationary, well-behaved series with clear autocorrelation patterns; well-established statistical foundation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>
                        <a:buFont typeface="Arial" pitchFamily="34" charset="0"/>
                        <a:buChar char="•"/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Requires manual (p,d,q) parameter tuning; struggles with multiple seasonalities and irregular holiday effects common in retail data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r>
                        <a:rPr lang="en-US" sz="1400" b="1" dirty="0">
                          <a:latin typeface="Times New Roman" pitchFamily="18" charset="0"/>
                          <a:cs typeface="Times New Roman" pitchFamily="18" charset="0"/>
                        </a:rPr>
                        <a:t>Comparative Studies [3]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Benchmarking studies comparing ARIMA vs Prophet for retail/demand forecasting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>
                        <a:buFont typeface="Arial" pitchFamily="34" charset="0"/>
                        <a:buChar char="•"/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Evaluate ARIMA, Prophet, and sometimes ML models on real retail sales datasets using MAE, RMSE, and MAPE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>
                        <a:buFont typeface="Arial" pitchFamily="34" charset="0"/>
                        <a:buChar char="•"/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Prophet often outperforms ARIMA on series with strong seasonality and holidays; ARIMA can outperform on short, stable series — no single model wins universally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indent="-285750" algn="l">
                        <a:buFont typeface="Arial" pitchFamily="34" charset="0"/>
                        <a:buChar char="•"/>
                      </a:pPr>
                      <a:r>
                        <a:rPr lang="en-US" sz="1400" dirty="0">
                          <a:latin typeface="Times New Roman" pitchFamily="18" charset="0"/>
                          <a:cs typeface="Times New Roman" pitchFamily="18" charset="0"/>
                        </a:rPr>
                        <a:t>Most studies stop at model comparison and don't address upstream data quality, anomaly detection, or deployment as an interactive decision-support tool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C48F0022-391A-4CFC-2851-87E76B37EAC2}"/>
              </a:ext>
            </a:extLst>
          </p:cNvPr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solidFill>
                  <a:srgbClr val="0064C8"/>
                </a:solidFill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4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/>
              <a:t>Existing System &amp; Gap Identification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0" name="Content Placeholder 19"/>
          <p:cNvSpPr txBox="1"/>
          <p:nvPr/>
        </p:nvSpPr>
        <p:spPr>
          <a:xfrm>
            <a:off x="838200" y="2130000"/>
            <a:ext cx="10515600" cy="404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1800" dirty="0"/>
              <a:t>Off-the-shelf forecasting notebooks apply ARIMA or Prophet individually, with no systematic side-by-side comparison or automatic model selection.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1800" dirty="0"/>
              <a:t>Public retail forecasting projects rarely include a real data-quality or duplicate-detection step, so results can look accurate on paper while trained on flawed data.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1800" dirty="0"/>
              <a:t>Anomaly detection, when present, is usually a separate, disconnected script rather than integrated into the forecasting workflow.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1800" dirty="0"/>
              <a:t>Most academic implementations stop at a Jupyter notebook, with no interactive dashboard business users can actually use to explore insights.</a:t>
            </a:r>
          </a:p>
          <a:p>
            <a:pPr marL="342900" indent="-342900">
              <a:buFont typeface="Arial" pitchFamily="34" charset="0"/>
              <a:buChar char="•"/>
            </a:pPr>
            <a:r>
              <a:rPr lang="en-US" sz="1800" dirty="0"/>
              <a:t>No existing open solution connects data cleaning, quality scoring, anomaly detection, dual-model forecasting, and an interactive dashboard into a single closed-loop system — this is the gap our project closes.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5AC43B5F-CE3F-4DB7-8215-9ACF03FB5F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938B951-7EFC-40A2-B198-E73D39DFB3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2E4506E-6A0E-49A0-BC31-8CADBFF3EC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EEED4D51-65BF-4AEE-B596-7CB61A70B9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C00062CA-E93E-DFB0-5A22-1412AB9A6752}"/>
              </a:ext>
            </a:extLst>
          </p:cNvPr>
          <p:cNvSpPr txBox="1"/>
          <p:nvPr/>
        </p:nvSpPr>
        <p:spPr>
          <a:xfrm>
            <a:off x="550863" y="366639"/>
            <a:ext cx="11090274" cy="67544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Output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600" b="1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9920425-6463-5A70-5F53-E116E85DEC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244" b="-2"/>
          <a:stretch>
            <a:fillRect/>
          </a:stretch>
        </p:blipFill>
        <p:spPr>
          <a:xfrm>
            <a:off x="550863" y="2133601"/>
            <a:ext cx="7561262" cy="41736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7" name="Picture 6" descr="A screen shot of a graph&#10;&#10;AI-generated content may be incorrect.">
            <a:extLst>
              <a:ext uri="{FF2B5EF4-FFF2-40B4-BE49-F238E27FC236}">
                <a16:creationId xmlns:a16="http://schemas.microsoft.com/office/drawing/2014/main" id="{BB8B3AC4-C504-7D20-5C05-AA960437BA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408" b="1"/>
          <a:stretch>
            <a:fillRect/>
          </a:stretch>
        </p:blipFill>
        <p:spPr>
          <a:xfrm>
            <a:off x="8292124" y="2133600"/>
            <a:ext cx="3359899" cy="1996799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D916F05-1BB4-71EE-389F-9EE399A72C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4264" b="-1"/>
          <a:stretch>
            <a:fillRect/>
          </a:stretch>
        </p:blipFill>
        <p:spPr>
          <a:xfrm>
            <a:off x="8292124" y="4308380"/>
            <a:ext cx="3358800" cy="1998000"/>
          </a:xfrm>
          <a:prstGeom prst="rect">
            <a:avLst/>
          </a:prstGeom>
          <a:effectLst>
            <a:outerShdw blurRad="508000" dist="101600" dir="5400000" algn="tl" rotWithShape="0">
              <a:prstClr val="black">
                <a:alpha val="10000"/>
              </a:prstClr>
            </a:outerShdw>
          </a:effectLst>
        </p:spPr>
      </p:pic>
      <p:pic>
        <p:nvPicPr>
          <p:cNvPr id="3" name="Picture 2" descr="A logo with a gear and a symbol&#10;&#10;AI-generated content may be incorrect.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0" name="Content Placeholder 19"/>
          <p:cNvSpPr txBox="1"/>
          <p:nvPr/>
        </p:nvSpPr>
        <p:spPr>
          <a:xfrm>
            <a:off x="838200" y="2130000"/>
            <a:ext cx="10515600" cy="404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342900" indent="-342900">
              <a:buFont typeface="Arial" pitchFamily="34" charset="0"/>
              <a:buChar char="•"/>
            </a:pP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7097624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765</Words>
  <Application>Microsoft Office PowerPoint</Application>
  <PresentationFormat>Widescreen</PresentationFormat>
  <Paragraphs>73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Anudeep Garlapati</cp:lastModifiedBy>
  <cp:revision>38</cp:revision>
  <dcterms:created xsi:type="dcterms:W3CDTF">2026-08-08T06:33:56Z</dcterms:created>
  <dcterms:modified xsi:type="dcterms:W3CDTF">2026-09-22T04:20:37Z</dcterms:modified>
</cp:coreProperties>
</file>